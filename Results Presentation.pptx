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3"/>
  </p:notesMasterIdLst>
  <p:handoutMasterIdLst>
    <p:handoutMasterId r:id="rId34"/>
  </p:handoutMasterIdLst>
  <p:sldIdLst>
    <p:sldId id="257" r:id="rId5"/>
    <p:sldId id="258" r:id="rId6"/>
    <p:sldId id="2151" r:id="rId7"/>
    <p:sldId id="275" r:id="rId8"/>
    <p:sldId id="2152" r:id="rId9"/>
    <p:sldId id="2153" r:id="rId10"/>
    <p:sldId id="2143" r:id="rId11"/>
    <p:sldId id="2111" r:id="rId12"/>
    <p:sldId id="2118" r:id="rId13"/>
    <p:sldId id="2139" r:id="rId14"/>
    <p:sldId id="2123" r:id="rId15"/>
    <p:sldId id="2149" r:id="rId16"/>
    <p:sldId id="2129" r:id="rId17"/>
    <p:sldId id="2144" r:id="rId18"/>
    <p:sldId id="2147" r:id="rId19"/>
    <p:sldId id="2148" r:id="rId20"/>
    <p:sldId id="2145" r:id="rId21"/>
    <p:sldId id="2140" r:id="rId22"/>
    <p:sldId id="2125" r:id="rId23"/>
    <p:sldId id="2138" r:id="rId24"/>
    <p:sldId id="2141" r:id="rId25"/>
    <p:sldId id="2121" r:id="rId26"/>
    <p:sldId id="2136" r:id="rId27"/>
    <p:sldId id="2142" r:id="rId28"/>
    <p:sldId id="2128" r:id="rId29"/>
    <p:sldId id="2137" r:id="rId30"/>
    <p:sldId id="2127" r:id="rId31"/>
    <p:sldId id="2122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12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84E104-CDE1-1323-9EB5-F18E061FC498}" name="Kanaya Patel" initials="KP" userId="S::kanayap@uoregon.edu::03cd6bb3-422c-471c-b0b1-c6ae1b66f38c" providerId="AD"/>
  <p188:author id="{10718A34-D918-1683-803F-E4056D8952EB}" name="Kerlos Rizk" initials="" userId="S::kerlosr@uoregon.edu::19d0ec18-33e0-453b-b94a-95ad43409a57" providerId="AD"/>
  <p188:author id="{9F09F038-134F-141B-A857-F927843F07E4}" name="Noah Schoenbaum" initials="NS" userId="S::nschoenb@uoregon.edu::38f7865f-8023-4bc5-b360-73efad3a30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3E4"/>
    <a:srgbClr val="AEDEA6"/>
    <a:srgbClr val="047A40"/>
    <a:srgbClr val="18A000"/>
    <a:srgbClr val="000000"/>
    <a:srgbClr val="EBF7E9"/>
    <a:srgbClr val="FFDC91"/>
    <a:srgbClr val="FEE1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099B2E-E65E-463B-8A67-61A4B61CF130}" v="7" dt="2026-08-28T23:41:36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0"/>
      </p:cViewPr>
      <p:guideLst>
        <p:guide pos="751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C5BD59-3F2D-42BF-AD0D-E3F76D254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966B5-00E8-9FD8-5535-022A78368E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B5F3375-EEA3-4286-B6DC-AB3FC731A25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FE238-937B-7853-C922-2A615F5D59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69E0F-2AD6-A781-7CA3-E93CB5E7E9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32918F3-3611-42BF-8B87-01708FB11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9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5CFF8ED-AFB1-6E4A-8B6A-BC1EAD7381A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6F0DEED-CCF4-4D48-936D-F4B436DF5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6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0DEED-CCF4-4D48-936D-F4B436DF5C9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7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623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 — UO Yello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9F17F2D-2A3F-F447-BB13-2DEB2EAE8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2949" y="762401"/>
            <a:ext cx="10706101" cy="192039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80000"/>
              </a:lnSpc>
              <a:defRPr sz="5000" b="1" i="0">
                <a:solidFill>
                  <a:schemeClr val="tx2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UO Presentation Headline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7DA4A95-E4B0-B9A1-1A1F-0781D81E01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2950" y="2788420"/>
            <a:ext cx="10706100" cy="831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000" b="0" i="0">
                <a:solidFill>
                  <a:schemeClr val="tx2"/>
                </a:solidFill>
                <a:latin typeface="Cambria" panose="02040503050406030204" pitchFamily="18" charset="0"/>
              </a:defRPr>
            </a:lvl1pPr>
          </a:lstStyle>
          <a:p>
            <a:pPr lvl="0"/>
            <a:r>
              <a:rPr lang="en-US"/>
              <a:t>Presentation sub-headline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602ED48-E1F5-F40D-3B59-03D9246B8A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950" y="3868096"/>
            <a:ext cx="10706100" cy="3810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300" b="0" i="0">
                <a:solidFill>
                  <a:schemeClr val="tx2"/>
                </a:solidFill>
                <a:latin typeface="Cambria" panose="02040503050406030204" pitchFamily="18" charset="0"/>
              </a:defRPr>
            </a:lvl1pPr>
          </a:lstStyle>
          <a:p>
            <a:pPr lvl="0"/>
            <a:r>
              <a:rPr lang="en-US"/>
              <a:t>Presenter Name and Title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701C3FA-EF80-7355-20CC-D4696335D3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2950" y="4338104"/>
            <a:ext cx="10706100" cy="2216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Cambria" panose="02040503050406030204" pitchFamily="18" charset="0"/>
              </a:defRPr>
            </a:lvl1pPr>
          </a:lstStyle>
          <a:p>
            <a:pPr lvl="0"/>
            <a:r>
              <a:rPr lang="en-US"/>
              <a:t>Month XX, XXXX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79EE0-BA63-8648-2286-96AC6C45EF42}"/>
              </a:ext>
            </a:extLst>
          </p:cNvPr>
          <p:cNvSpPr/>
          <p:nvPr userDrawn="1"/>
        </p:nvSpPr>
        <p:spPr>
          <a:xfrm>
            <a:off x="0" y="6250329"/>
            <a:ext cx="12188952" cy="607671"/>
          </a:xfrm>
          <a:prstGeom prst="rect">
            <a:avLst/>
          </a:prstGeom>
          <a:solidFill>
            <a:srgbClr val="047A4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0F7A53-2431-C7F8-AC2F-F2E6A234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516588" y="6301746"/>
            <a:ext cx="613749" cy="5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37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0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8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7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50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0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3B45AF8-D312-8F77-6A50-C7334917D59C}"/>
              </a:ext>
            </a:extLst>
          </p:cNvPr>
          <p:cNvSpPr/>
          <p:nvPr userDrawn="1"/>
        </p:nvSpPr>
        <p:spPr>
          <a:xfrm>
            <a:off x="0" y="6250329"/>
            <a:ext cx="12188952" cy="607671"/>
          </a:xfrm>
          <a:prstGeom prst="rect">
            <a:avLst/>
          </a:prstGeom>
          <a:solidFill>
            <a:srgbClr val="047A4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32080"/>
            <a:ext cx="11155680" cy="568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965201"/>
            <a:ext cx="11155680" cy="538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371602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>
              <a:latin typeface="Cambria" panose="020405030504060302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95468F-E255-6228-5624-5844854D0490}"/>
              </a:ext>
            </a:extLst>
          </p:cNvPr>
          <p:cNvCxnSpPr>
            <a:cxnSpLocks/>
          </p:cNvCxnSpPr>
          <p:nvPr userDrawn="1"/>
        </p:nvCxnSpPr>
        <p:spPr>
          <a:xfrm>
            <a:off x="534224" y="721360"/>
            <a:ext cx="11103233" cy="0"/>
          </a:xfrm>
          <a:prstGeom prst="line">
            <a:avLst/>
          </a:prstGeom>
          <a:ln w="25400">
            <a:solidFill>
              <a:srgbClr val="047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AC18CF5-3AF8-0EB9-7F03-F9DB23BEC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529483" y="6301746"/>
            <a:ext cx="613749" cy="5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5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5" r:id="rId2"/>
    <p:sldLayoutId id="2147483676" r:id="rId3"/>
    <p:sldLayoutId id="2147483677" r:id="rId4"/>
    <p:sldLayoutId id="2147483678" r:id="rId5"/>
    <p:sldLayoutId id="2147483680" r:id="rId6"/>
    <p:sldLayoutId id="2147483681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251C-0DF3-321D-A6A8-C2250D72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Post-CAHOOTS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C6510-64BE-EE00-DAE1-C69570BBCC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How welfare check call logistics shifted post-CAHOOTS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B2EA6-4BA2-185D-8563-01C22973F1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278" y="3538495"/>
            <a:ext cx="10706100" cy="381000"/>
          </a:xfrm>
        </p:spPr>
        <p:txBody>
          <a:bodyPr/>
          <a:lstStyle/>
          <a:p>
            <a:r>
              <a:rPr lang="en-US"/>
              <a:t>Prepared By: Kanaya Patel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CEDE9-420A-36E2-582E-340256C3B0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May 13, 2026</a:t>
            </a:r>
          </a:p>
        </p:txBody>
      </p:sp>
    </p:spTree>
    <p:extLst>
      <p:ext uri="{BB962C8B-B14F-4D97-AF65-F5344CB8AC3E}">
        <p14:creationId xmlns:p14="http://schemas.microsoft.com/office/powerpoint/2010/main" val="310336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F18D-54E6-47B5-7CEB-2182AF5E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132080"/>
            <a:ext cx="11271625" cy="568960"/>
          </a:xfrm>
        </p:spPr>
        <p:txBody>
          <a:bodyPr>
            <a:normAutofit/>
          </a:bodyPr>
          <a:lstStyle/>
          <a:p>
            <a:r>
              <a:rPr lang="en-US"/>
              <a:t>Background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A4D8D8-3130-CCFD-F1C6-D252D3B975E2}"/>
              </a:ext>
            </a:extLst>
          </p:cNvPr>
          <p:cNvGrpSpPr/>
          <p:nvPr/>
        </p:nvGrpSpPr>
        <p:grpSpPr>
          <a:xfrm>
            <a:off x="456845" y="966877"/>
            <a:ext cx="11221349" cy="566275"/>
            <a:chOff x="456845" y="899765"/>
            <a:chExt cx="11221349" cy="56627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AEA0A3E-CCA4-088D-3911-3B617A336FCB}"/>
                </a:ext>
              </a:extLst>
            </p:cNvPr>
            <p:cNvSpPr/>
            <p:nvPr/>
          </p:nvSpPr>
          <p:spPr>
            <a:xfrm>
              <a:off x="639976" y="899765"/>
              <a:ext cx="11038218" cy="566275"/>
            </a:xfrm>
            <a:prstGeom prst="roundRect">
              <a:avLst/>
            </a:prstGeom>
            <a:solidFill>
              <a:srgbClr val="18A000">
                <a:alpha val="3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CAHOOTS was essential to the city of Eugene, as the program supported not only law enforcement, but also people in need. </a:t>
              </a:r>
            </a:p>
          </p:txBody>
        </p:sp>
        <p:pic>
          <p:nvPicPr>
            <p:cNvPr id="1027" name="Picture 3" descr="Lightbulb ">
              <a:extLst>
                <a:ext uri="{FF2B5EF4-FFF2-40B4-BE49-F238E27FC236}">
                  <a16:creationId xmlns:a16="http://schemas.microsoft.com/office/drawing/2014/main" id="{A3C3642D-5380-B595-2243-6817F5F42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456845" y="978265"/>
              <a:ext cx="369946" cy="369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202B81-E6B2-ED92-DEAB-A515CC2A0A51}"/>
              </a:ext>
            </a:extLst>
          </p:cNvPr>
          <p:cNvSpPr/>
          <p:nvPr/>
        </p:nvSpPr>
        <p:spPr>
          <a:xfrm>
            <a:off x="1071451" y="1731760"/>
            <a:ext cx="4144029" cy="1188720"/>
          </a:xfrm>
          <a:prstGeom prst="roundRect">
            <a:avLst/>
          </a:prstGeom>
          <a:noFill/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mbria"/>
                <a:ea typeface="Cambria"/>
              </a:rPr>
              <a:t>13.7% of all emergency calls answered by CAHOOTS</a:t>
            </a:r>
            <a:endParaRPr lang="en-US" sz="1200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202B81-E6B2-ED92-DEAB-A515CC2A0A51}"/>
              </a:ext>
            </a:extLst>
          </p:cNvPr>
          <p:cNvSpPr/>
          <p:nvPr/>
        </p:nvSpPr>
        <p:spPr>
          <a:xfrm>
            <a:off x="1071451" y="3252045"/>
            <a:ext cx="4144029" cy="1188720"/>
          </a:xfrm>
          <a:prstGeom prst="roundRect">
            <a:avLst/>
          </a:prstGeom>
          <a:noFill/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lang="en-US" altLang="en-US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745FC1-9388-31A4-F2BD-7615CBF7617A}"/>
              </a:ext>
            </a:extLst>
          </p:cNvPr>
          <p:cNvSpPr/>
          <p:nvPr/>
        </p:nvSpPr>
        <p:spPr>
          <a:xfrm>
            <a:off x="1071451" y="4772330"/>
            <a:ext cx="4144029" cy="1188720"/>
          </a:xfrm>
          <a:prstGeom prst="roundRect">
            <a:avLst/>
          </a:prstGeom>
          <a:noFill/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Currently, welfare checks dispatched to EPD or MCSLC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1139DE-27D9-792B-6BF1-DF3A374CF47D}"/>
              </a:ext>
            </a:extLst>
          </p:cNvPr>
          <p:cNvCxnSpPr>
            <a:cxnSpLocks/>
          </p:cNvCxnSpPr>
          <p:nvPr/>
        </p:nvCxnSpPr>
        <p:spPr>
          <a:xfrm>
            <a:off x="5810250" y="1722574"/>
            <a:ext cx="0" cy="429768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3AA5909-E8D9-FDB6-32E7-DBC842557811}"/>
              </a:ext>
            </a:extLst>
          </p:cNvPr>
          <p:cNvGrpSpPr/>
          <p:nvPr/>
        </p:nvGrpSpPr>
        <p:grpSpPr>
          <a:xfrm>
            <a:off x="6461740" y="5258412"/>
            <a:ext cx="4734781" cy="702638"/>
            <a:chOff x="6228592" y="5324874"/>
            <a:chExt cx="4734781" cy="70263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AF76A1B-00D9-6033-FF3D-DA4A0F0D5DE3}"/>
                </a:ext>
              </a:extLst>
            </p:cNvPr>
            <p:cNvSpPr/>
            <p:nvPr/>
          </p:nvSpPr>
          <p:spPr>
            <a:xfrm>
              <a:off x="6441847" y="5409685"/>
              <a:ext cx="4521526" cy="617827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CAHOOTS accounted for 53% of welfare check calls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170A0A6-CDF0-AB2B-6BDB-D821C2D37893}"/>
                </a:ext>
              </a:extLst>
            </p:cNvPr>
            <p:cNvGrpSpPr/>
            <p:nvPr/>
          </p:nvGrpSpPr>
          <p:grpSpPr>
            <a:xfrm>
              <a:off x="6228592" y="5324874"/>
              <a:ext cx="451027" cy="472124"/>
              <a:chOff x="6212209" y="4664104"/>
              <a:chExt cx="466072" cy="49299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1702621-05B2-4719-B679-9BE2896854C9}"/>
                  </a:ext>
                </a:extLst>
              </p:cNvPr>
              <p:cNvSpPr/>
              <p:nvPr/>
            </p:nvSpPr>
            <p:spPr>
              <a:xfrm>
                <a:off x="6212209" y="4664104"/>
                <a:ext cx="459276" cy="4462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45" name="Picture 21" descr="Exclamation mark ">
                <a:extLst>
                  <a:ext uri="{FF2B5EF4-FFF2-40B4-BE49-F238E27FC236}">
                    <a16:creationId xmlns:a16="http://schemas.microsoft.com/office/drawing/2014/main" id="{D8A430E4-643F-D2E5-6472-F2E53378DA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054378">
                <a:off x="6227389" y="4706211"/>
                <a:ext cx="450892" cy="4508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C2088C-BAB5-5367-D6F8-A80318D899F0}"/>
              </a:ext>
            </a:extLst>
          </p:cNvPr>
          <p:cNvSpPr/>
          <p:nvPr/>
        </p:nvSpPr>
        <p:spPr>
          <a:xfrm>
            <a:off x="1071450" y="3252045"/>
            <a:ext cx="4144029" cy="1188720"/>
          </a:xfrm>
          <a:prstGeom prst="roundRect">
            <a:avLst/>
          </a:prstGeom>
          <a:noFill/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mbria"/>
                <a:ea typeface="Cambria"/>
              </a:rPr>
              <a:t>29.8% of calls CAHOOTS responded to were welfare checks</a:t>
            </a:r>
            <a:endParaRPr lang="en-US" sz="1200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D2DC232F-6812-0DC4-2C57-816DDDC6A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34078"/>
            <a:ext cx="2838322" cy="283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A8349693-D021-76AA-91E2-3231B5BCA1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E8CF0E84-46B4-9D3D-A140-0153B3E8C2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6E602589-05A6-8C75-EFDD-053AE6931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47" y="1527955"/>
            <a:ext cx="3798749" cy="379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39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202D-FBF1-9CD0-710F-F8723510A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885775"/>
            <a:ext cx="11155680" cy="95871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600" b="1"/>
              <a:t>What am I looking into?</a:t>
            </a:r>
          </a:p>
          <a:p>
            <a:pPr marL="0" indent="0" algn="ctr">
              <a:buNone/>
            </a:pPr>
            <a:r>
              <a:rPr lang="en-US" sz="1300" b="1"/>
              <a:t>What questions am I trying to answer?</a:t>
            </a:r>
          </a:p>
          <a:p>
            <a:pPr marL="0" indent="0" algn="ctr">
              <a:buNone/>
            </a:pPr>
            <a:endParaRPr lang="en-US" sz="4600" b="1"/>
          </a:p>
          <a:p>
            <a:pPr marL="0" indent="0" algn="ctr">
              <a:buNone/>
            </a:pPr>
            <a:endParaRPr lang="en-US" sz="1300" b="1"/>
          </a:p>
        </p:txBody>
      </p:sp>
    </p:spTree>
    <p:extLst>
      <p:ext uri="{BB962C8B-B14F-4D97-AF65-F5344CB8AC3E}">
        <p14:creationId xmlns:p14="http://schemas.microsoft.com/office/powerpoint/2010/main" val="70745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2970A-3779-FF4A-CACA-61593F9D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F8F-74F5-ECD9-1439-81E01CC3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Research Question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A7219D-00A5-8593-D061-4BD646FBC80E}"/>
              </a:ext>
            </a:extLst>
          </p:cNvPr>
          <p:cNvSpPr/>
          <p:nvPr/>
        </p:nvSpPr>
        <p:spPr>
          <a:xfrm>
            <a:off x="440266" y="1163737"/>
            <a:ext cx="11275099" cy="1828800"/>
          </a:xfrm>
          <a:prstGeom prst="roundRect">
            <a:avLst/>
          </a:prstGeom>
          <a:solidFill>
            <a:srgbClr val="EBF7E9"/>
          </a:solidFill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How has the overall volume of welfare check calls changed since April, 2025?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4D22E3-8D59-BD2A-54BC-78A4506B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9" y="1764069"/>
            <a:ext cx="628135" cy="628135"/>
          </a:xfrm>
          <a:prstGeom prst="rect">
            <a:avLst/>
          </a:prstGeom>
          <a:ln>
            <a:noFill/>
          </a:ln>
          <a:effectLst>
            <a:glow rad="38100">
              <a:srgbClr val="047A40"/>
            </a:glow>
          </a:effectLst>
        </p:spPr>
      </p:pic>
    </p:spTree>
    <p:extLst>
      <p:ext uri="{BB962C8B-B14F-4D97-AF65-F5344CB8AC3E}">
        <p14:creationId xmlns:p14="http://schemas.microsoft.com/office/powerpoint/2010/main" val="199491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FAFEA-0D7A-599E-2970-184A6F92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DF6B-EAB7-4CBF-EE9D-80437F09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Research Question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CB2B50-FE8E-96E0-80C2-A24B8E21FE3A}"/>
              </a:ext>
            </a:extLst>
          </p:cNvPr>
          <p:cNvSpPr/>
          <p:nvPr/>
        </p:nvSpPr>
        <p:spPr>
          <a:xfrm>
            <a:off x="440266" y="1163737"/>
            <a:ext cx="11275099" cy="1828800"/>
          </a:xfrm>
          <a:prstGeom prst="roundRect">
            <a:avLst/>
          </a:prstGeom>
          <a:solidFill>
            <a:srgbClr val="EBF7E9"/>
          </a:solidFill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How has the overall volume of welfare check calls changed since April, 2025?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8827D3-80C1-D0F8-7B3D-9122E37E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9" y="1764069"/>
            <a:ext cx="628135" cy="628135"/>
          </a:xfrm>
          <a:prstGeom prst="rect">
            <a:avLst/>
          </a:prstGeom>
          <a:ln>
            <a:noFill/>
          </a:ln>
          <a:effectLst>
            <a:glow rad="38100">
              <a:srgbClr val="047A40"/>
            </a:glo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146EE-5EF0-C1DC-59B4-6A22954BE22E}"/>
              </a:ext>
            </a:extLst>
          </p:cNvPr>
          <p:cNvSpPr/>
          <p:nvPr/>
        </p:nvSpPr>
        <p:spPr>
          <a:xfrm>
            <a:off x="440267" y="3865463"/>
            <a:ext cx="11275098" cy="1828800"/>
          </a:xfrm>
          <a:prstGeom prst="roundRect">
            <a:avLst/>
          </a:prstGeom>
          <a:solidFill>
            <a:srgbClr val="EBF7E9"/>
          </a:solidFill>
          <a:ln>
            <a:solidFill>
              <a:srgbClr val="047A4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Among these calls, how has the number of arrests concluding the call changed?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72F5F-2925-7ACF-CC1B-24C3E025C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8" y="4465795"/>
            <a:ext cx="628135" cy="628135"/>
          </a:xfrm>
          <a:prstGeom prst="rect">
            <a:avLst/>
          </a:prstGeom>
          <a:ln>
            <a:noFill/>
          </a:ln>
          <a:effectLst>
            <a:glow rad="38100">
              <a:srgbClr val="047A40"/>
            </a:glow>
          </a:effectLst>
        </p:spPr>
      </p:pic>
    </p:spTree>
    <p:extLst>
      <p:ext uri="{BB962C8B-B14F-4D97-AF65-F5344CB8AC3E}">
        <p14:creationId xmlns:p14="http://schemas.microsoft.com/office/powerpoint/2010/main" val="14882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85E6-744D-CDBF-279F-24EA2596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379D-F7B4-4399-4A72-DC9E005E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885775"/>
            <a:ext cx="11155680" cy="95871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600" b="1"/>
              <a:t>Data</a:t>
            </a:r>
          </a:p>
          <a:p>
            <a:pPr marL="0" indent="0" algn="ctr">
              <a:buNone/>
            </a:pPr>
            <a:r>
              <a:rPr lang="en-US" sz="1300" b="1"/>
              <a:t>What data am I using to answer these questions?</a:t>
            </a:r>
          </a:p>
        </p:txBody>
      </p:sp>
    </p:spTree>
    <p:extLst>
      <p:ext uri="{BB962C8B-B14F-4D97-AF65-F5344CB8AC3E}">
        <p14:creationId xmlns:p14="http://schemas.microsoft.com/office/powerpoint/2010/main" val="131210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94C8-6069-8157-D85A-53E4C742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495E1D-2B51-E3E0-065E-6F7C14E402C3}"/>
              </a:ext>
            </a:extLst>
          </p:cNvPr>
          <p:cNvSpPr/>
          <p:nvPr/>
        </p:nvSpPr>
        <p:spPr>
          <a:xfrm>
            <a:off x="508000" y="1009508"/>
            <a:ext cx="5426395" cy="4976958"/>
          </a:xfrm>
          <a:prstGeom prst="rect">
            <a:avLst/>
          </a:prstGeom>
          <a:solidFill>
            <a:srgbClr val="18A000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810808-061A-173D-6157-9A755F9C95BB}"/>
              </a:ext>
            </a:extLst>
          </p:cNvPr>
          <p:cNvSpPr/>
          <p:nvPr/>
        </p:nvSpPr>
        <p:spPr>
          <a:xfrm>
            <a:off x="6308747" y="1009508"/>
            <a:ext cx="5354934" cy="4976958"/>
          </a:xfrm>
          <a:prstGeom prst="rect">
            <a:avLst/>
          </a:prstGeom>
          <a:solidFill>
            <a:srgbClr val="18A000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01CB1-8843-7A5C-3803-8846C38B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mbria" panose="02040503050406030204" pitchFamily="18" charset="0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F4276-A049-7E7E-CD49-A51C32382C19}"/>
              </a:ext>
            </a:extLst>
          </p:cNvPr>
          <p:cNvSpPr txBox="1"/>
          <p:nvPr/>
        </p:nvSpPr>
        <p:spPr>
          <a:xfrm>
            <a:off x="508000" y="3429000"/>
            <a:ext cx="54983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Computer Aided Dispatch (Eugene)</a:t>
            </a:r>
          </a:p>
          <a:p>
            <a:pPr algn="ctr"/>
            <a:r>
              <a:rPr lang="en-US" sz="3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&amp;</a:t>
            </a:r>
          </a:p>
          <a:p>
            <a:pPr algn="ctr"/>
            <a:r>
              <a:rPr lang="en-US" sz="3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Springfield 911 Calls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2EC65-C432-DC5F-A448-E027323BD64B}"/>
              </a:ext>
            </a:extLst>
          </p:cNvPr>
          <p:cNvSpPr txBox="1"/>
          <p:nvPr/>
        </p:nvSpPr>
        <p:spPr>
          <a:xfrm>
            <a:off x="7137196" y="3620508"/>
            <a:ext cx="4062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Springfield 911 Call Outcomes</a:t>
            </a:r>
          </a:p>
        </p:txBody>
      </p:sp>
      <p:pic>
        <p:nvPicPr>
          <p:cNvPr id="4" name="Picture 3" descr="Tyler Technologies">
            <a:extLst>
              <a:ext uri="{FF2B5EF4-FFF2-40B4-BE49-F238E27FC236}">
                <a16:creationId xmlns:a16="http://schemas.microsoft.com/office/drawing/2014/main" id="{A9E2AAD6-762A-A5A2-F197-B1E9460D944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53007" y="1419529"/>
            <a:ext cx="1871384" cy="1871384"/>
          </a:xfrm>
          <a:prstGeom prst="rect">
            <a:avLst/>
          </a:prstGeom>
          <a:effectLst>
            <a:glow rad="12700">
              <a:schemeClr val="tx1"/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B6F53-0FAC-51F8-4977-A45789B11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96" y="1470226"/>
            <a:ext cx="1769990" cy="1769990"/>
          </a:xfrm>
          <a:prstGeom prst="rect">
            <a:avLst/>
          </a:prstGeom>
          <a:effectLst>
            <a:glow rad="12700">
              <a:schemeClr val="tx1"/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FFEA61-1B40-3E50-7BC5-D56E628ADED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8166127" y="1486670"/>
            <a:ext cx="2005089" cy="1825370"/>
          </a:xfrm>
          <a:prstGeom prst="rect">
            <a:avLst/>
          </a:prstGeom>
          <a:effectLst>
            <a:glow rad="12700">
              <a:schemeClr val="tx1"/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944C93-5504-5CBC-507D-C22038891789}"/>
              </a:ext>
            </a:extLst>
          </p:cNvPr>
          <p:cNvSpPr txBox="1"/>
          <p:nvPr/>
        </p:nvSpPr>
        <p:spPr>
          <a:xfrm>
            <a:off x="7771157" y="293553"/>
            <a:ext cx="3960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Cambria" panose="02040503050406030204" pitchFamily="18" charset="0"/>
                <a:ea typeface="Cambria" panose="02040503050406030204" pitchFamily="18" charset="0"/>
              </a:rPr>
              <a:t>Note: All data provided is public and was provided by Rori Rohlfs</a:t>
            </a:r>
          </a:p>
        </p:txBody>
      </p:sp>
    </p:spTree>
    <p:extLst>
      <p:ext uri="{BB962C8B-B14F-4D97-AF65-F5344CB8AC3E}">
        <p14:creationId xmlns:p14="http://schemas.microsoft.com/office/powerpoint/2010/main" val="24876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CD9E-E13C-40DD-F363-1A642C7E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2353-3E7E-3508-DA6C-6963FD70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mbria" panose="02040503050406030204" pitchFamily="18" charset="0"/>
              </a:rPr>
              <a:t>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79C8A7-3EB9-6F74-2C5A-07316AE115B1}"/>
              </a:ext>
            </a:extLst>
          </p:cNvPr>
          <p:cNvSpPr/>
          <p:nvPr/>
        </p:nvSpPr>
        <p:spPr>
          <a:xfrm>
            <a:off x="7857019" y="1152946"/>
            <a:ext cx="4048459" cy="4919262"/>
          </a:xfrm>
          <a:prstGeom prst="rect">
            <a:avLst/>
          </a:prstGeom>
          <a:solidFill>
            <a:srgbClr val="18A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EFD2B7-9567-04BF-D89E-55E8DDB3FC01}"/>
              </a:ext>
            </a:extLst>
          </p:cNvPr>
          <p:cNvSpPr txBox="1"/>
          <p:nvPr/>
        </p:nvSpPr>
        <p:spPr>
          <a:xfrm>
            <a:off x="8708279" y="3780753"/>
            <a:ext cx="2479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Springfield Call Outcome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1CCCD-6A3B-73B1-9F93-586826E057C5}"/>
              </a:ext>
            </a:extLst>
          </p:cNvPr>
          <p:cNvSpPr txBox="1"/>
          <p:nvPr/>
        </p:nvSpPr>
        <p:spPr>
          <a:xfrm>
            <a:off x="805571" y="1288779"/>
            <a:ext cx="6095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Computer-Aided Dispatch (Eugene) + Springfield 911 Call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28F86-0730-D858-282A-FC9EF390CFF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9359410" y="1943092"/>
            <a:ext cx="1631427" cy="1485200"/>
          </a:xfrm>
          <a:prstGeom prst="rect">
            <a:avLst/>
          </a:prstGeom>
          <a:effectLst>
            <a:glow rad="12700">
              <a:schemeClr val="tx1"/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90CC2-C8BD-4DF0-89A4-CD2E1582C749}"/>
              </a:ext>
            </a:extLst>
          </p:cNvPr>
          <p:cNvSpPr txBox="1"/>
          <p:nvPr/>
        </p:nvSpPr>
        <p:spPr>
          <a:xfrm>
            <a:off x="508000" y="1871624"/>
            <a:ext cx="184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Time of dispatch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F4D2E-D64D-845E-D8A0-AF13B3C3D605}"/>
              </a:ext>
            </a:extLst>
          </p:cNvPr>
          <p:cNvSpPr txBox="1"/>
          <p:nvPr/>
        </p:nvSpPr>
        <p:spPr>
          <a:xfrm>
            <a:off x="2439702" y="1882169"/>
            <a:ext cx="160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Nature of call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F2038-4DA5-4EBB-C8CA-0CF5D62ED94D}"/>
              </a:ext>
            </a:extLst>
          </p:cNvPr>
          <p:cNvSpPr txBox="1"/>
          <p:nvPr/>
        </p:nvSpPr>
        <p:spPr>
          <a:xfrm>
            <a:off x="4133265" y="1892714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How it ended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14E06-CB58-AC54-C97B-B0E98E808AED}"/>
              </a:ext>
            </a:extLst>
          </p:cNvPr>
          <p:cNvSpPr txBox="1"/>
          <p:nvPr/>
        </p:nvSpPr>
        <p:spPr>
          <a:xfrm>
            <a:off x="5746282" y="1903258"/>
            <a:ext cx="185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Who responded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9AA9AA-54EF-4806-4A06-1C6F002EDB6E}"/>
              </a:ext>
            </a:extLst>
          </p:cNvPr>
          <p:cNvGrpSpPr/>
          <p:nvPr/>
        </p:nvGrpSpPr>
        <p:grpSpPr>
          <a:xfrm>
            <a:off x="289502" y="1151984"/>
            <a:ext cx="7218050" cy="4920225"/>
            <a:chOff x="289502" y="1151984"/>
            <a:chExt cx="7218050" cy="49202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18E57E-B93E-E9A9-E624-F173F4D6F2AE}"/>
                </a:ext>
              </a:extLst>
            </p:cNvPr>
            <p:cNvSpPr/>
            <p:nvPr/>
          </p:nvSpPr>
          <p:spPr>
            <a:xfrm>
              <a:off x="289502" y="1151984"/>
              <a:ext cx="7218050" cy="4920225"/>
            </a:xfrm>
            <a:prstGeom prst="rect">
              <a:avLst/>
            </a:prstGeom>
            <a:noFill/>
            <a:ln w="57150">
              <a:solidFill>
                <a:srgbClr val="18A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pic>
          <p:nvPicPr>
            <p:cNvPr id="13" name="Graphic 12" descr="Clock with solid fill">
              <a:extLst>
                <a:ext uri="{FF2B5EF4-FFF2-40B4-BE49-F238E27FC236}">
                  <a16:creationId xmlns:a16="http://schemas.microsoft.com/office/drawing/2014/main" id="{3E839D8F-E96B-5087-207D-ADFA0640C6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7251" y="2476500"/>
              <a:ext cx="1005840" cy="100584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15" name="Graphic 14" descr="Question Mark with solid fill">
              <a:extLst>
                <a:ext uri="{FF2B5EF4-FFF2-40B4-BE49-F238E27FC236}">
                  <a16:creationId xmlns:a16="http://schemas.microsoft.com/office/drawing/2014/main" id="{165DBF23-443D-DA39-0468-8B47D71B3B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16419" y="2476500"/>
              <a:ext cx="1005840" cy="100584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17C3110-3551-74E2-8382-A80CCA4C4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1797" y="2476500"/>
              <a:ext cx="952500" cy="9525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B21F568-52B5-16EA-01D6-60DEC61A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9408" y="2475792"/>
              <a:ext cx="952500" cy="9525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4B6A8D0-9B0F-906B-37B4-5E73341DE7DC}"/>
              </a:ext>
            </a:extLst>
          </p:cNvPr>
          <p:cNvSpPr txBox="1"/>
          <p:nvPr/>
        </p:nvSpPr>
        <p:spPr>
          <a:xfrm>
            <a:off x="7771157" y="293553"/>
            <a:ext cx="3960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Cambria" panose="02040503050406030204" pitchFamily="18" charset="0"/>
                <a:ea typeface="Cambria" panose="02040503050406030204" pitchFamily="18" charset="0"/>
              </a:rPr>
              <a:t>Note: All data provided is public and was provided by Rori Rohlfs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2E7F869-385B-371E-08D1-9063E5CA3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3142" y="3058420"/>
            <a:ext cx="8003338" cy="349104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A937CE3-8AF5-0456-07EB-18456BA6A883}"/>
              </a:ext>
            </a:extLst>
          </p:cNvPr>
          <p:cNvSpPr txBox="1"/>
          <p:nvPr/>
        </p:nvSpPr>
        <p:spPr>
          <a:xfrm>
            <a:off x="2573343" y="5685831"/>
            <a:ext cx="2650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Cambria" panose="02040503050406030204" pitchFamily="18" charset="0"/>
                <a:ea typeface="Cambria" panose="02040503050406030204" pitchFamily="18" charset="0"/>
              </a:rPr>
              <a:t>Sample entries of dataset</a:t>
            </a:r>
          </a:p>
        </p:txBody>
      </p:sp>
    </p:spTree>
    <p:extLst>
      <p:ext uri="{BB962C8B-B14F-4D97-AF65-F5344CB8AC3E}">
        <p14:creationId xmlns:p14="http://schemas.microsoft.com/office/powerpoint/2010/main" val="2025947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C1AFD-B3C9-FE53-1C4A-0D48C0D8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4F66-FED6-C10A-19D4-644FC7CF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D9574C-AD56-846C-73D7-92793C904616}"/>
              </a:ext>
            </a:extLst>
          </p:cNvPr>
          <p:cNvSpPr/>
          <p:nvPr/>
        </p:nvSpPr>
        <p:spPr>
          <a:xfrm>
            <a:off x="4669536" y="1151984"/>
            <a:ext cx="7218050" cy="4920225"/>
          </a:xfrm>
          <a:prstGeom prst="rect">
            <a:avLst/>
          </a:prstGeom>
          <a:noFill/>
          <a:ln w="57150">
            <a:solidFill>
              <a:srgbClr val="18A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85938-4C0D-4951-9E31-56522DFE0C0F}"/>
              </a:ext>
            </a:extLst>
          </p:cNvPr>
          <p:cNvSpPr txBox="1"/>
          <p:nvPr/>
        </p:nvSpPr>
        <p:spPr>
          <a:xfrm>
            <a:off x="5231076" y="1285788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cs typeface="Calibri" panose="020F0502020204030204" pitchFamily="34" charset="0"/>
              </a:rPr>
              <a:t>Springfield Call Outcome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45ED3-0016-7ABA-1CE2-2C8C1C9A9606}"/>
              </a:ext>
            </a:extLst>
          </p:cNvPr>
          <p:cNvSpPr txBox="1"/>
          <p:nvPr/>
        </p:nvSpPr>
        <p:spPr>
          <a:xfrm>
            <a:off x="2420199" y="3943582"/>
            <a:ext cx="2026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Springfield 911 Call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DECA0-03D0-B841-6E82-874F7C6FA17B}"/>
              </a:ext>
            </a:extLst>
          </p:cNvPr>
          <p:cNvSpPr txBox="1"/>
          <p:nvPr/>
        </p:nvSpPr>
        <p:spPr>
          <a:xfrm>
            <a:off x="5147014" y="1867854"/>
            <a:ext cx="6263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Contains close codes used in Springfield 911 Call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D296B-0F25-8278-A210-F8CCEE96C90F}"/>
              </a:ext>
            </a:extLst>
          </p:cNvPr>
          <p:cNvSpPr txBox="1"/>
          <p:nvPr/>
        </p:nvSpPr>
        <p:spPr>
          <a:xfrm>
            <a:off x="7771157" y="293553"/>
            <a:ext cx="39602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Note: All data provided is public and was provided by Rori Rohlfs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8050B-9D59-33B6-9E5E-58DEBFFE356E}"/>
              </a:ext>
            </a:extLst>
          </p:cNvPr>
          <p:cNvSpPr txBox="1"/>
          <p:nvPr/>
        </p:nvSpPr>
        <p:spPr>
          <a:xfrm>
            <a:off x="5252785" y="2642502"/>
            <a:ext cx="5879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Was used to find the outcome of calls from Springfield 911 Call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C601B2-DBA9-2145-3442-03A24FE9CFCF}"/>
              </a:ext>
            </a:extLst>
          </p:cNvPr>
          <p:cNvSpPr txBox="1"/>
          <p:nvPr/>
        </p:nvSpPr>
        <p:spPr>
          <a:xfrm>
            <a:off x="6961423" y="5746334"/>
            <a:ext cx="2461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Cambria" panose="02040503050406030204" pitchFamily="18" charset="0"/>
                <a:ea typeface="Cambria" panose="02040503050406030204" pitchFamily="18" charset="0"/>
              </a:rPr>
              <a:t>Sample entries of dataset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FFD58-F0C5-FA52-EDF5-2C3DF16F8C2F}"/>
              </a:ext>
            </a:extLst>
          </p:cNvPr>
          <p:cNvSpPr/>
          <p:nvPr/>
        </p:nvSpPr>
        <p:spPr>
          <a:xfrm>
            <a:off x="128005" y="1095250"/>
            <a:ext cx="4173972" cy="4976958"/>
          </a:xfrm>
          <a:prstGeom prst="rect">
            <a:avLst/>
          </a:prstGeom>
          <a:solidFill>
            <a:srgbClr val="18A000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Tyler Technologies">
            <a:extLst>
              <a:ext uri="{FF2B5EF4-FFF2-40B4-BE49-F238E27FC236}">
                <a16:creationId xmlns:a16="http://schemas.microsoft.com/office/drawing/2014/main" id="{B8F070FF-5A94-F293-C0AF-A570EB42D60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15340" y="1611966"/>
            <a:ext cx="1321743" cy="1321743"/>
          </a:xfrm>
          <a:prstGeom prst="rect">
            <a:avLst/>
          </a:prstGeom>
          <a:effectLst>
            <a:glow rad="12700">
              <a:schemeClr val="tx1"/>
            </a:glo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1B68C2-AE09-59AF-8C60-8B2C1CFF8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133" y="1643925"/>
            <a:ext cx="1321743" cy="1321743"/>
          </a:xfrm>
          <a:prstGeom prst="rect">
            <a:avLst/>
          </a:prstGeom>
          <a:effectLst>
            <a:glow rad="12700">
              <a:schemeClr val="tx1"/>
            </a:glo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6B94B9B-C59C-9D7C-6F0A-70BE6BEF758F}"/>
              </a:ext>
            </a:extLst>
          </p:cNvPr>
          <p:cNvSpPr txBox="1"/>
          <p:nvPr/>
        </p:nvSpPr>
        <p:spPr>
          <a:xfrm>
            <a:off x="-534183" y="3167399"/>
            <a:ext cx="549834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>
                <a:solidFill>
                  <a:schemeClr val="bg1"/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 Computer Aided Dispatch (Eugene)</a:t>
            </a:r>
          </a:p>
          <a:p>
            <a:pPr algn="ctr"/>
            <a:endParaRPr lang="en-US" sz="2600" b="1">
              <a:solidFill>
                <a:schemeClr val="bg1"/>
              </a:solidFill>
              <a:latin typeface="Cambria" panose="02040503050406030204" pitchFamily="18" charset="0"/>
              <a:cs typeface="Calibri" panose="020F0502020204030204" pitchFamily="34" charset="0"/>
            </a:endParaRPr>
          </a:p>
          <a:p>
            <a:pPr algn="ctr"/>
            <a:r>
              <a:rPr lang="en-US" sz="2600" b="1">
                <a:solidFill>
                  <a:schemeClr val="bg1"/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&amp;</a:t>
            </a:r>
          </a:p>
          <a:p>
            <a:pPr algn="ctr"/>
            <a:endParaRPr lang="en-US" sz="2600" b="1">
              <a:solidFill>
                <a:schemeClr val="bg1"/>
              </a:solidFill>
              <a:latin typeface="Cambria" panose="02040503050406030204" pitchFamily="18" charset="0"/>
              <a:cs typeface="Calibri" panose="020F0502020204030204" pitchFamily="34" charset="0"/>
            </a:endParaRPr>
          </a:p>
          <a:p>
            <a:pPr algn="ctr"/>
            <a:r>
              <a:rPr lang="en-US" sz="2600" b="1">
                <a:solidFill>
                  <a:schemeClr val="bg1"/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Springfield 911 Call 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7CC3D2-1ED5-5258-293E-616951035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334" y="2575670"/>
            <a:ext cx="9532299" cy="415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1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3C26-87E2-4A69-AA68-FB67B3367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893291"/>
            <a:ext cx="11155680" cy="107141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5400" b="1"/>
              <a:t>Methodology</a:t>
            </a:r>
          </a:p>
          <a:p>
            <a:pPr marL="0" indent="0" algn="ctr">
              <a:buNone/>
            </a:pPr>
            <a:r>
              <a:rPr lang="en-US" sz="1500" b="1"/>
              <a:t>How did I use this data to address my research questions?</a:t>
            </a:r>
          </a:p>
        </p:txBody>
      </p:sp>
    </p:spTree>
    <p:extLst>
      <p:ext uri="{BB962C8B-B14F-4D97-AF65-F5344CB8AC3E}">
        <p14:creationId xmlns:p14="http://schemas.microsoft.com/office/powerpoint/2010/main" val="242812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6182-30E3-0EE4-0B94-EB3C8969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u="sng">
                <a:ea typeface="Cambria" panose="02040503050406030204" pitchFamily="18" charset="0"/>
              </a:rPr>
              <a:t>Difference in Differences</a:t>
            </a:r>
            <a:br>
              <a:rPr lang="en-US" sz="3200" u="sng">
                <a:ea typeface="Cambria" panose="02040503050406030204" pitchFamily="18" charset="0"/>
              </a:rPr>
            </a:br>
            <a:endParaRPr lang="en-US" sz="3600" u="sng">
              <a:ea typeface="Cambria" panose="020405030504060302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5BBE54C-BD6E-F7FF-FE0C-B508A7994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656" y="1687286"/>
            <a:ext cx="6013450" cy="350171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E3146A8-57F5-25E5-9EA9-228ECC0A053A}"/>
              </a:ext>
            </a:extLst>
          </p:cNvPr>
          <p:cNvSpPr txBox="1"/>
          <p:nvPr/>
        </p:nvSpPr>
        <p:spPr>
          <a:xfrm>
            <a:off x="7186325" y="4866572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A7BB5-10A4-4CE5-7F09-58F7BCE430BF}"/>
              </a:ext>
            </a:extLst>
          </p:cNvPr>
          <p:cNvSpPr txBox="1"/>
          <p:nvPr/>
        </p:nvSpPr>
        <p:spPr>
          <a:xfrm>
            <a:off x="604087" y="3364735"/>
            <a:ext cx="502005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Cambria" panose="02040503050406030204" pitchFamily="18" charset="0"/>
                <a:ea typeface="Cambria" panose="02040503050406030204" pitchFamily="18" charset="0"/>
              </a:rPr>
              <a:t>What do we learn?</a:t>
            </a:r>
          </a:p>
          <a:p>
            <a:endParaRPr lang="en-US" sz="500" b="1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Impact of CAHOOTS being defunded on:</a:t>
            </a:r>
          </a:p>
          <a:p>
            <a:endParaRPr lang="en-US" sz="5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Volume of welfare checks</a:t>
            </a:r>
          </a:p>
          <a:p>
            <a:pPr marL="342900" indent="-342900">
              <a:buAutoNum type="arabicPeriod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Volume of arrest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4EBD2-7419-8270-A46D-29478BD6B946}"/>
              </a:ext>
            </a:extLst>
          </p:cNvPr>
          <p:cNvSpPr txBox="1"/>
          <p:nvPr/>
        </p:nvSpPr>
        <p:spPr>
          <a:xfrm>
            <a:off x="604087" y="1846661"/>
            <a:ext cx="485429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Cambria" panose="02040503050406030204" pitchFamily="18" charset="0"/>
                <a:ea typeface="Cambria" panose="02040503050406030204" pitchFamily="18" charset="0"/>
              </a:rPr>
              <a:t>We have two comparable groups</a:t>
            </a:r>
          </a:p>
          <a:p>
            <a:endParaRPr lang="en-US" sz="5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Eugene – No CAHOOTS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(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treatment group)</a:t>
            </a:r>
          </a:p>
          <a:p>
            <a:pPr marL="342900" indent="-342900">
              <a:buAutoNum type="arabicPeriod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Springfield – Has CAHOOTS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(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control group)</a:t>
            </a:r>
          </a:p>
          <a:p>
            <a:endParaRPr lang="en-US" sz="2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8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E0B4-13BF-3860-8899-82E040B5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95E613-B133-5C3B-3327-59394C7585A2}"/>
              </a:ext>
            </a:extLst>
          </p:cNvPr>
          <p:cNvSpPr txBox="1"/>
          <p:nvPr/>
        </p:nvSpPr>
        <p:spPr>
          <a:xfrm>
            <a:off x="4276871" y="5822536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17FCC02D-45E7-C010-67CB-6DF276C1A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4" y="246834"/>
            <a:ext cx="10659010" cy="62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84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439F-45DE-ECCD-83DE-1F6B6162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69D35-BBB0-5369-C6E7-78C17500B604}"/>
              </a:ext>
            </a:extLst>
          </p:cNvPr>
          <p:cNvSpPr txBox="1"/>
          <p:nvPr/>
        </p:nvSpPr>
        <p:spPr>
          <a:xfrm>
            <a:off x="4276871" y="5822536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1C9AB-51BB-C3F0-58A4-211635BC59FF}"/>
              </a:ext>
            </a:extLst>
          </p:cNvPr>
          <p:cNvSpPr txBox="1"/>
          <p:nvPr/>
        </p:nvSpPr>
        <p:spPr>
          <a:xfrm>
            <a:off x="3275266" y="2703947"/>
            <a:ext cx="249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 Group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[Springfield]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9C9C79-C797-E7EF-2DA5-24E74AB96BF0}"/>
              </a:ext>
            </a:extLst>
          </p:cNvPr>
          <p:cNvCxnSpPr/>
          <p:nvPr/>
        </p:nvCxnSpPr>
        <p:spPr>
          <a:xfrm>
            <a:off x="4521185" y="3350278"/>
            <a:ext cx="0" cy="46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E52BA9B2-D44A-C12E-3001-FB0575A3E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4" y="246834"/>
            <a:ext cx="10659010" cy="62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0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14CDE-C0CA-27E3-EA6E-6444A14C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F85B9F-7EF7-027D-DBF7-E8BC35C970DD}"/>
              </a:ext>
            </a:extLst>
          </p:cNvPr>
          <p:cNvSpPr txBox="1"/>
          <p:nvPr/>
        </p:nvSpPr>
        <p:spPr>
          <a:xfrm>
            <a:off x="4276871" y="5822536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561D3-DC49-A8A6-9948-670994A95133}"/>
              </a:ext>
            </a:extLst>
          </p:cNvPr>
          <p:cNvSpPr txBox="1"/>
          <p:nvPr/>
        </p:nvSpPr>
        <p:spPr>
          <a:xfrm>
            <a:off x="3275266" y="2703947"/>
            <a:ext cx="249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Control Group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[Springfield]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29D753-53FF-CA4F-F9FA-D17DF19DE01A}"/>
              </a:ext>
            </a:extLst>
          </p:cNvPr>
          <p:cNvCxnSpPr/>
          <p:nvPr/>
        </p:nvCxnSpPr>
        <p:spPr>
          <a:xfrm>
            <a:off x="4521185" y="3350278"/>
            <a:ext cx="0" cy="46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5603F3-46E1-DDD4-3CF8-41C609AF756A}"/>
              </a:ext>
            </a:extLst>
          </p:cNvPr>
          <p:cNvSpPr txBox="1"/>
          <p:nvPr/>
        </p:nvSpPr>
        <p:spPr>
          <a:xfrm>
            <a:off x="5599215" y="1703428"/>
            <a:ext cx="2291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Treatment Group 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[Eugene]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B289D9-A803-062C-A519-9A351A829EBB}"/>
              </a:ext>
            </a:extLst>
          </p:cNvPr>
          <p:cNvCxnSpPr>
            <a:cxnSpLocks/>
          </p:cNvCxnSpPr>
          <p:nvPr/>
        </p:nvCxnSpPr>
        <p:spPr>
          <a:xfrm>
            <a:off x="6964878" y="2349759"/>
            <a:ext cx="249382" cy="22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70F6185F-D45B-5CB6-A057-388714E3C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4" y="246834"/>
            <a:ext cx="10659010" cy="62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0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5A28-F3BC-D897-515A-C67B53F5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896B63-8D2C-5FA2-6FBA-5CF22038B9BD}"/>
              </a:ext>
            </a:extLst>
          </p:cNvPr>
          <p:cNvSpPr txBox="1"/>
          <p:nvPr/>
        </p:nvSpPr>
        <p:spPr>
          <a:xfrm>
            <a:off x="4276871" y="5822536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E9559-1C07-2F10-0300-13B3950949E2}"/>
              </a:ext>
            </a:extLst>
          </p:cNvPr>
          <p:cNvSpPr txBox="1"/>
          <p:nvPr/>
        </p:nvSpPr>
        <p:spPr>
          <a:xfrm>
            <a:off x="3275266" y="2703947"/>
            <a:ext cx="249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Control Group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[Springfield]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73880C-653B-5433-39C8-781F5AF1EAC0}"/>
              </a:ext>
            </a:extLst>
          </p:cNvPr>
          <p:cNvCxnSpPr/>
          <p:nvPr/>
        </p:nvCxnSpPr>
        <p:spPr>
          <a:xfrm>
            <a:off x="4521185" y="3350278"/>
            <a:ext cx="0" cy="46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E581CD-C2FE-9A06-B028-972308E73A3A}"/>
              </a:ext>
            </a:extLst>
          </p:cNvPr>
          <p:cNvSpPr txBox="1"/>
          <p:nvPr/>
        </p:nvSpPr>
        <p:spPr>
          <a:xfrm>
            <a:off x="5599215" y="1703428"/>
            <a:ext cx="2291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Treatment Group 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[Eugene]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33EFE1-0AB1-18C0-C87E-804E51E0C85A}"/>
              </a:ext>
            </a:extLst>
          </p:cNvPr>
          <p:cNvCxnSpPr>
            <a:cxnSpLocks/>
          </p:cNvCxnSpPr>
          <p:nvPr/>
        </p:nvCxnSpPr>
        <p:spPr>
          <a:xfrm>
            <a:off x="6964878" y="2349759"/>
            <a:ext cx="249382" cy="22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896EF53-4563-1AA8-3AB6-DA71585A1D6F}"/>
              </a:ext>
            </a:extLst>
          </p:cNvPr>
          <p:cNvSpPr txBox="1"/>
          <p:nvPr/>
        </p:nvSpPr>
        <p:spPr>
          <a:xfrm>
            <a:off x="2951018" y="880003"/>
            <a:ext cx="297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Treatment Given 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[CAHOOTS defunded]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625E69-C9D7-B854-FFC9-1F970A5A3145}"/>
              </a:ext>
            </a:extLst>
          </p:cNvPr>
          <p:cNvCxnSpPr>
            <a:cxnSpLocks/>
          </p:cNvCxnSpPr>
          <p:nvPr/>
        </p:nvCxnSpPr>
        <p:spPr>
          <a:xfrm>
            <a:off x="5219205" y="1511470"/>
            <a:ext cx="421574" cy="192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BD16FE0-DA17-508A-C990-6300D7FD0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4" y="246834"/>
            <a:ext cx="10659010" cy="62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8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9B031-9A38-8849-CED9-6148470B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7A50B-BD7F-64C1-C4A6-02D81D62666B}"/>
              </a:ext>
            </a:extLst>
          </p:cNvPr>
          <p:cNvSpPr txBox="1"/>
          <p:nvPr/>
        </p:nvSpPr>
        <p:spPr>
          <a:xfrm>
            <a:off x="4276871" y="5822536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17D9FA-0037-4D03-EFAA-D7AD1B5B1C8E}"/>
              </a:ext>
            </a:extLst>
          </p:cNvPr>
          <p:cNvSpPr txBox="1"/>
          <p:nvPr/>
        </p:nvSpPr>
        <p:spPr>
          <a:xfrm>
            <a:off x="3275266" y="2703947"/>
            <a:ext cx="249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Control Group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[Springfield]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B797E1-CDC8-CA3F-ADA6-87763308C842}"/>
              </a:ext>
            </a:extLst>
          </p:cNvPr>
          <p:cNvCxnSpPr/>
          <p:nvPr/>
        </p:nvCxnSpPr>
        <p:spPr>
          <a:xfrm>
            <a:off x="4521185" y="3350278"/>
            <a:ext cx="0" cy="46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856D7B-DFFA-058C-665C-B67F90D92060}"/>
              </a:ext>
            </a:extLst>
          </p:cNvPr>
          <p:cNvSpPr txBox="1"/>
          <p:nvPr/>
        </p:nvSpPr>
        <p:spPr>
          <a:xfrm>
            <a:off x="5599215" y="1703428"/>
            <a:ext cx="2291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Treatment Group 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[Eugene]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501776-CA4C-642D-23B0-8F69F8F311F7}"/>
              </a:ext>
            </a:extLst>
          </p:cNvPr>
          <p:cNvSpPr txBox="1"/>
          <p:nvPr/>
        </p:nvSpPr>
        <p:spPr>
          <a:xfrm>
            <a:off x="2951018" y="880003"/>
            <a:ext cx="297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Treatment Given 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[CAHOOTS defunded]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AFAD1A-B840-FF82-8A24-A1A574C942E8}"/>
              </a:ext>
            </a:extLst>
          </p:cNvPr>
          <p:cNvCxnSpPr>
            <a:cxnSpLocks/>
          </p:cNvCxnSpPr>
          <p:nvPr/>
        </p:nvCxnSpPr>
        <p:spPr>
          <a:xfrm>
            <a:off x="5219205" y="1511470"/>
            <a:ext cx="421574" cy="192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5D11D4-C103-3ABB-4ACA-F71AD08DEED0}"/>
              </a:ext>
            </a:extLst>
          </p:cNvPr>
          <p:cNvSpPr txBox="1"/>
          <p:nvPr/>
        </p:nvSpPr>
        <p:spPr>
          <a:xfrm>
            <a:off x="6323610" y="4515010"/>
            <a:ext cx="4331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Counterfactual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[Expectation if CAHOOTS still operating]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9C59C4-05F4-E315-75EC-3AB740E8EA92}"/>
              </a:ext>
            </a:extLst>
          </p:cNvPr>
          <p:cNvCxnSpPr/>
          <p:nvPr/>
        </p:nvCxnSpPr>
        <p:spPr>
          <a:xfrm flipH="1" flipV="1">
            <a:off x="7255823" y="4286992"/>
            <a:ext cx="338447" cy="273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Content Placeholder 11">
            <a:extLst>
              <a:ext uri="{FF2B5EF4-FFF2-40B4-BE49-F238E27FC236}">
                <a16:creationId xmlns:a16="http://schemas.microsoft.com/office/drawing/2014/main" id="{ABA80088-17FC-B66B-A0C1-AD5B702C7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4" y="246834"/>
            <a:ext cx="10659010" cy="6206889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972C06-FC25-B59B-9906-BB6C41AB706B}"/>
              </a:ext>
            </a:extLst>
          </p:cNvPr>
          <p:cNvCxnSpPr>
            <a:cxnSpLocks/>
          </p:cNvCxnSpPr>
          <p:nvPr/>
        </p:nvCxnSpPr>
        <p:spPr>
          <a:xfrm>
            <a:off x="6964878" y="2349759"/>
            <a:ext cx="249382" cy="22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50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9C0E-B262-C6AB-BEC3-BCF251C6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BE2A23-083A-FCE9-0002-B39BEEE5A252}"/>
              </a:ext>
            </a:extLst>
          </p:cNvPr>
          <p:cNvSpPr txBox="1"/>
          <p:nvPr/>
        </p:nvSpPr>
        <p:spPr>
          <a:xfrm>
            <a:off x="4276871" y="5822536"/>
            <a:ext cx="3467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ambria" panose="02040503050406030204" pitchFamily="18" charset="0"/>
                <a:ea typeface="Cambria" panose="02040503050406030204" pitchFamily="18" charset="0"/>
              </a:rPr>
              <a:t>An example of a difference-in-differences plot</a:t>
            </a:r>
          </a:p>
        </p:txBody>
      </p:sp>
      <p:pic>
        <p:nvPicPr>
          <p:cNvPr id="14" name="Content Placeholder 11">
            <a:extLst>
              <a:ext uri="{FF2B5EF4-FFF2-40B4-BE49-F238E27FC236}">
                <a16:creationId xmlns:a16="http://schemas.microsoft.com/office/drawing/2014/main" id="{D2D8FB59-A56A-D82D-07D6-1C587809F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4" y="246834"/>
            <a:ext cx="10659010" cy="62068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D87DAB-834C-D684-BD67-910D09F4614C}"/>
              </a:ext>
            </a:extLst>
          </p:cNvPr>
          <p:cNvSpPr txBox="1"/>
          <p:nvPr/>
        </p:nvSpPr>
        <p:spPr>
          <a:xfrm>
            <a:off x="3275266" y="2703947"/>
            <a:ext cx="249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Control Group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[Springfield]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A1529C-979A-8572-37C5-C9A764A4BC59}"/>
              </a:ext>
            </a:extLst>
          </p:cNvPr>
          <p:cNvCxnSpPr/>
          <p:nvPr/>
        </p:nvCxnSpPr>
        <p:spPr>
          <a:xfrm>
            <a:off x="4521185" y="3350278"/>
            <a:ext cx="0" cy="46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F0DD98D-9A98-AAF6-4207-D88CCDF7E23A}"/>
              </a:ext>
            </a:extLst>
          </p:cNvPr>
          <p:cNvSpPr txBox="1"/>
          <p:nvPr/>
        </p:nvSpPr>
        <p:spPr>
          <a:xfrm>
            <a:off x="2951018" y="880003"/>
            <a:ext cx="297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Treatment Given 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[CAHOOTS defunded]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ED10CF-5C69-FBF7-2763-6FB8F367BBDA}"/>
              </a:ext>
            </a:extLst>
          </p:cNvPr>
          <p:cNvCxnSpPr>
            <a:cxnSpLocks/>
          </p:cNvCxnSpPr>
          <p:nvPr/>
        </p:nvCxnSpPr>
        <p:spPr>
          <a:xfrm>
            <a:off x="5219205" y="1511470"/>
            <a:ext cx="421574" cy="192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42B1E5-611A-D5CA-1656-07A572282DCD}"/>
              </a:ext>
            </a:extLst>
          </p:cNvPr>
          <p:cNvSpPr txBox="1"/>
          <p:nvPr/>
        </p:nvSpPr>
        <p:spPr>
          <a:xfrm>
            <a:off x="6323610" y="4515010"/>
            <a:ext cx="4331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Counterfactual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[Expectation if CAHOOTS still operating]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2039F4-FE4F-034C-2E4F-4773A5417AB8}"/>
              </a:ext>
            </a:extLst>
          </p:cNvPr>
          <p:cNvCxnSpPr/>
          <p:nvPr/>
        </p:nvCxnSpPr>
        <p:spPr>
          <a:xfrm flipH="1" flipV="1">
            <a:off x="7255823" y="4286992"/>
            <a:ext cx="338447" cy="273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1A9E01B-0B12-4077-2595-F88789BE9BE8}"/>
              </a:ext>
            </a:extLst>
          </p:cNvPr>
          <p:cNvSpPr txBox="1"/>
          <p:nvPr/>
        </p:nvSpPr>
        <p:spPr>
          <a:xfrm>
            <a:off x="7911934" y="2229863"/>
            <a:ext cx="4494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Effect of Treatment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[Impact of CAHOOTS being defunded]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84D660-3417-4515-74B2-9B29218BF32B}"/>
              </a:ext>
            </a:extLst>
          </p:cNvPr>
          <p:cNvCxnSpPr>
            <a:cxnSpLocks/>
          </p:cNvCxnSpPr>
          <p:nvPr/>
        </p:nvCxnSpPr>
        <p:spPr>
          <a:xfrm flipH="1" flipV="1">
            <a:off x="8199912" y="2416976"/>
            <a:ext cx="760020" cy="21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ADD26A2-0997-2E76-A4D2-21DFB692C490}"/>
              </a:ext>
            </a:extLst>
          </p:cNvPr>
          <p:cNvSpPr txBox="1"/>
          <p:nvPr/>
        </p:nvSpPr>
        <p:spPr>
          <a:xfrm>
            <a:off x="5599215" y="1703428"/>
            <a:ext cx="2291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Treatment Group </a:t>
            </a:r>
          </a:p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[Eugene]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36697B-3748-9804-81CD-4A7BB156AD52}"/>
              </a:ext>
            </a:extLst>
          </p:cNvPr>
          <p:cNvCxnSpPr>
            <a:cxnSpLocks/>
          </p:cNvCxnSpPr>
          <p:nvPr/>
        </p:nvCxnSpPr>
        <p:spPr>
          <a:xfrm>
            <a:off x="6964878" y="2349759"/>
            <a:ext cx="249382" cy="22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54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6F64-487C-01B4-9DB9-60D87776F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917042"/>
            <a:ext cx="11155680" cy="110097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5000" b="1"/>
              <a:t>Results</a:t>
            </a:r>
          </a:p>
          <a:p>
            <a:pPr marL="0" indent="0" algn="ctr">
              <a:buNone/>
            </a:pPr>
            <a:r>
              <a:rPr lang="en-US" sz="1400" b="1"/>
              <a:t>What did I find from the data?</a:t>
            </a:r>
          </a:p>
        </p:txBody>
      </p:sp>
    </p:spTree>
    <p:extLst>
      <p:ext uri="{BB962C8B-B14F-4D97-AF65-F5344CB8AC3E}">
        <p14:creationId xmlns:p14="http://schemas.microsoft.com/office/powerpoint/2010/main" val="808010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C7ED-6FB7-747F-FD80-41EBDAF0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2" y="244900"/>
            <a:ext cx="11164824" cy="1216152"/>
          </a:xfrm>
        </p:spPr>
        <p:txBody>
          <a:bodyPr>
            <a:normAutofit/>
          </a:bodyPr>
          <a:lstStyle/>
          <a:p>
            <a:r>
              <a:rPr lang="en-US"/>
              <a:t>Eugene volume of welfare check fell after CAHOOTS was defunded</a:t>
            </a:r>
            <a:br>
              <a:rPr lang="en-US"/>
            </a:b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21E556-B3DE-4619-6421-812243DE0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2" y="759923"/>
            <a:ext cx="10930621" cy="546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8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3888AF-4F33-1393-C74F-3FAEB89D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86" y="174472"/>
            <a:ext cx="11654428" cy="1216152"/>
          </a:xfrm>
        </p:spPr>
        <p:txBody>
          <a:bodyPr>
            <a:normAutofit/>
          </a:bodyPr>
          <a:lstStyle/>
          <a:p>
            <a:r>
              <a:rPr lang="en-US"/>
              <a:t>Arrests concluding welfare checks increased post-CAHOOTS in Eugene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10B35-FE25-FC26-9975-E56D99C1F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38" y="782548"/>
            <a:ext cx="10856493" cy="54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76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C5D0-9349-4821-62FA-541528279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663107"/>
            <a:ext cx="11155680" cy="11279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5000" b="1"/>
              <a:t>So what?</a:t>
            </a:r>
          </a:p>
          <a:p>
            <a:pPr marL="0" indent="0" algn="ctr">
              <a:buNone/>
            </a:pPr>
            <a:r>
              <a:rPr lang="en-US" sz="1300" b="1"/>
              <a:t>What can we do?</a:t>
            </a:r>
          </a:p>
          <a:p>
            <a:pPr marL="0" indent="0" algn="ctr">
              <a:buNone/>
            </a:pPr>
            <a:endParaRPr lang="en-US" sz="4600" b="1"/>
          </a:p>
        </p:txBody>
      </p:sp>
    </p:spTree>
    <p:extLst>
      <p:ext uri="{BB962C8B-B14F-4D97-AF65-F5344CB8AC3E}">
        <p14:creationId xmlns:p14="http://schemas.microsoft.com/office/powerpoint/2010/main" val="1949316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BC578-3092-5F90-0E57-1F7A0128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mbria" panose="02040503050406030204" pitchFamily="18" charset="0"/>
                <a:cs typeface="Calibri" panose="020F0502020204030204" pitchFamily="34" charset="0"/>
              </a:rPr>
              <a:t>Discussion – Recommendations</a:t>
            </a:r>
            <a:br>
              <a:rPr lang="en-US" u="sng"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US"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406A65-2C18-ED14-4071-6EF98BD80FAC}"/>
              </a:ext>
            </a:extLst>
          </p:cNvPr>
          <p:cNvSpPr/>
          <p:nvPr/>
        </p:nvSpPr>
        <p:spPr>
          <a:xfrm>
            <a:off x="411656" y="1114827"/>
            <a:ext cx="11368687" cy="1828800"/>
          </a:xfrm>
          <a:prstGeom prst="roundRect">
            <a:avLst/>
          </a:prstGeom>
          <a:solidFill>
            <a:srgbClr val="EBF7E9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Bringing law enforcement up to CAHOOTS' standard </a:t>
            </a:r>
          </a:p>
        </p:txBody>
      </p:sp>
      <p:pic>
        <p:nvPicPr>
          <p:cNvPr id="10" name="Graphic 9" descr="Shield Tick with solid fill">
            <a:extLst>
              <a:ext uri="{FF2B5EF4-FFF2-40B4-BE49-F238E27FC236}">
                <a16:creationId xmlns:a16="http://schemas.microsoft.com/office/drawing/2014/main" id="{8C504F9A-0F7D-619A-D7C2-E3C195800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2669" y="651945"/>
            <a:ext cx="716691" cy="716691"/>
          </a:xfrm>
          <a:prstGeom prst="rect">
            <a:avLst/>
          </a:prstGeom>
          <a:effectLst>
            <a:glow rad="127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882922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2691-0458-4358-6E7B-6E9022D7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3A24-980C-EBB2-5245-9E56B9AA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mbria" panose="02040503050406030204" pitchFamily="18" charset="0"/>
                <a:cs typeface="Calibri" panose="020F0502020204030204" pitchFamily="34" charset="0"/>
              </a:rPr>
              <a:t>Discussion – Recommendations </a:t>
            </a:r>
            <a:br>
              <a:rPr lang="en-US" u="sng"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US"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F191CF-B88C-7CFD-F98F-D4B608A673E9}"/>
              </a:ext>
            </a:extLst>
          </p:cNvPr>
          <p:cNvSpPr/>
          <p:nvPr/>
        </p:nvSpPr>
        <p:spPr>
          <a:xfrm>
            <a:off x="411657" y="3805020"/>
            <a:ext cx="11368686" cy="1828800"/>
          </a:xfrm>
          <a:prstGeom prst="roundRect">
            <a:avLst/>
          </a:prstGeom>
          <a:solidFill>
            <a:srgbClr val="EBF7E9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Restoring CAHOOTS and bring it back into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D84DE-7CDD-339F-B5E8-CEF0C9076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09" y="3429000"/>
            <a:ext cx="602251" cy="602251"/>
          </a:xfrm>
          <a:prstGeom prst="rect">
            <a:avLst/>
          </a:prstGeom>
          <a:effectLst>
            <a:glow rad="12700">
              <a:schemeClr val="bg1">
                <a:alpha val="8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F939C1-E15E-3C7B-3F24-2BD553BD3AC9}"/>
              </a:ext>
            </a:extLst>
          </p:cNvPr>
          <p:cNvSpPr/>
          <p:nvPr/>
        </p:nvSpPr>
        <p:spPr>
          <a:xfrm>
            <a:off x="411656" y="1114827"/>
            <a:ext cx="11368687" cy="1828800"/>
          </a:xfrm>
          <a:prstGeom prst="roundRect">
            <a:avLst/>
          </a:prstGeom>
          <a:solidFill>
            <a:srgbClr val="EBF7E9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Bringing law enforcement up to CAHOOTS' standard </a:t>
            </a:r>
          </a:p>
        </p:txBody>
      </p:sp>
      <p:pic>
        <p:nvPicPr>
          <p:cNvPr id="4" name="Graphic 3" descr="Shield Tick with solid fill">
            <a:extLst>
              <a:ext uri="{FF2B5EF4-FFF2-40B4-BE49-F238E27FC236}">
                <a16:creationId xmlns:a16="http://schemas.microsoft.com/office/drawing/2014/main" id="{6C062607-E0C9-848A-823C-A43EED08D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2669" y="651945"/>
            <a:ext cx="716691" cy="716691"/>
          </a:xfrm>
          <a:prstGeom prst="rect">
            <a:avLst/>
          </a:prstGeom>
          <a:effectLst>
            <a:glow rad="127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240976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E5CF-218C-6726-F2CD-94E722C46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452585"/>
            <a:ext cx="11155680" cy="9764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600" b="1"/>
              <a:t>Limitations</a:t>
            </a:r>
          </a:p>
          <a:p>
            <a:pPr marL="0" indent="0" algn="ctr">
              <a:buNone/>
            </a:pPr>
            <a:r>
              <a:rPr lang="en-US" sz="1300" b="1"/>
              <a:t>All research has its limitations</a:t>
            </a:r>
          </a:p>
        </p:txBody>
      </p:sp>
    </p:spTree>
    <p:extLst>
      <p:ext uri="{BB962C8B-B14F-4D97-AF65-F5344CB8AC3E}">
        <p14:creationId xmlns:p14="http://schemas.microsoft.com/office/powerpoint/2010/main" val="3948118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3DCA-A4AB-1502-59AF-8A37FD64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 – Limitations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7029A-63F5-9F82-AC7D-A34C4432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629" y="1614605"/>
            <a:ext cx="586438" cy="58643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EC5B30-0D0F-6191-92A0-806D493E21CB}"/>
              </a:ext>
            </a:extLst>
          </p:cNvPr>
          <p:cNvSpPr/>
          <p:nvPr/>
        </p:nvSpPr>
        <p:spPr>
          <a:xfrm>
            <a:off x="411656" y="1114827"/>
            <a:ext cx="11368687" cy="1828800"/>
          </a:xfrm>
          <a:prstGeom prst="roundRect">
            <a:avLst/>
          </a:prstGeom>
          <a:solidFill>
            <a:srgbClr val="FDE3E4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Lack of data after CAHOOTS was defunded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79985D-BD69-7685-0CF9-6BE10695E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780" y="1200818"/>
            <a:ext cx="586438" cy="586438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FDE3E4"/>
            </a:outerShdw>
          </a:effectLst>
        </p:spPr>
      </p:pic>
    </p:spTree>
    <p:extLst>
      <p:ext uri="{BB962C8B-B14F-4D97-AF65-F5344CB8AC3E}">
        <p14:creationId xmlns:p14="http://schemas.microsoft.com/office/powerpoint/2010/main" val="534597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91F3-0012-F99C-59E9-6A1158D4C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28E7-3988-41F7-6D0E-531FCDF9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mbria" panose="02040503050406030204" pitchFamily="18" charset="0"/>
              </a:rPr>
              <a:t>Discussion – Limitations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E11EC-8E83-171D-41EC-E7F61FD94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609" y="3850055"/>
            <a:ext cx="540478" cy="54047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D6EAEA-79BF-F587-41D1-1625DA531BDF}"/>
              </a:ext>
            </a:extLst>
          </p:cNvPr>
          <p:cNvSpPr/>
          <p:nvPr/>
        </p:nvSpPr>
        <p:spPr>
          <a:xfrm>
            <a:off x="411657" y="3749654"/>
            <a:ext cx="11368686" cy="1884166"/>
          </a:xfrm>
          <a:prstGeom prst="roundRect">
            <a:avLst/>
          </a:prstGeom>
          <a:solidFill>
            <a:srgbClr val="FDE3E4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Recommendations suggest theoretical approaches that may be unrealistic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5E6B5A-654F-7A0F-D4C6-5DE36FB9E12D}"/>
              </a:ext>
            </a:extLst>
          </p:cNvPr>
          <p:cNvSpPr/>
          <p:nvPr/>
        </p:nvSpPr>
        <p:spPr>
          <a:xfrm>
            <a:off x="411656" y="1114827"/>
            <a:ext cx="11368687" cy="1828800"/>
          </a:xfrm>
          <a:prstGeom prst="roundRect">
            <a:avLst/>
          </a:prstGeom>
          <a:solidFill>
            <a:srgbClr val="FDE3E4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Lack of data after CAHOOTS was defunded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3578C-CD6A-EE13-F996-E6F10AB9E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780" y="1200818"/>
            <a:ext cx="586438" cy="586438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FDE3E4"/>
            </a:outerShdw>
          </a:effectLst>
        </p:spPr>
      </p:pic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59DEBE8B-5DCA-119E-CBB1-7F5C228AA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814" y="3749654"/>
            <a:ext cx="607187" cy="60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95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016126-CB5C-013A-C81F-94113AB7D4DE}"/>
              </a:ext>
            </a:extLst>
          </p:cNvPr>
          <p:cNvSpPr/>
          <p:nvPr/>
        </p:nvSpPr>
        <p:spPr>
          <a:xfrm>
            <a:off x="4528904" y="2505670"/>
            <a:ext cx="3134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07555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6549-7938-A03C-157E-DD54FEAC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A7AC-2392-344D-D454-F0C4AB31B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/>
              <a:t>Special thanks to these wonderful people! 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Rori Rohlfs</a:t>
            </a:r>
          </a:p>
          <a:p>
            <a:pPr marL="342900" indent="-342900">
              <a:buAutoNum type="arabicPeriod"/>
            </a:pPr>
            <a:r>
              <a:rPr lang="en-US"/>
              <a:t>Eli Andrae </a:t>
            </a:r>
          </a:p>
          <a:p>
            <a:pPr marL="342900" indent="-342900">
              <a:buAutoNum type="arabicPeriod"/>
            </a:pPr>
            <a:r>
              <a:rPr lang="en-US"/>
              <a:t>Jennifer Linnaea</a:t>
            </a:r>
          </a:p>
          <a:p>
            <a:pPr marL="342900" indent="-342900">
              <a:buAutoNum type="arabicPeriod"/>
            </a:pPr>
            <a:r>
              <a:rPr lang="en-US"/>
              <a:t>Alex Gollier</a:t>
            </a:r>
          </a:p>
          <a:p>
            <a:pPr marL="342900" indent="-342900">
              <a:buAutoNum type="arabicPeriod"/>
            </a:pPr>
            <a:r>
              <a:rPr lang="en-US"/>
              <a:t>Marco </a:t>
            </a:r>
            <a:r>
              <a:rPr lang="en-US" err="1"/>
              <a:t>Montemore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Diego Lopez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161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DE652893355046972750D4159CBDD8" ma:contentTypeVersion="3" ma:contentTypeDescription="Create a new document." ma:contentTypeScope="" ma:versionID="b023e4fcae8075c700c4ee9081533cd1">
  <xsd:schema xmlns:xsd="http://www.w3.org/2001/XMLSchema" xmlns:xs="http://www.w3.org/2001/XMLSchema" xmlns:p="http://schemas.microsoft.com/office/2006/metadata/properties" xmlns:ns2="e9ee326f-114a-403d-8731-a941cab8dbfa" targetNamespace="http://schemas.microsoft.com/office/2006/metadata/properties" ma:root="true" ma:fieldsID="516009a3591ace76f76db231db05446c" ns2:_="">
    <xsd:import namespace="e9ee326f-114a-403d-8731-a941cab8d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e326f-114a-403d-8731-a941cab8db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FAB5CC-FD51-477F-87EF-85D3E50E8393}">
  <ds:schemaRefs>
    <ds:schemaRef ds:uri="http://purl.org/dc/terms/"/>
    <ds:schemaRef ds:uri="http://schemas.microsoft.com/office/2006/metadata/properties"/>
    <ds:schemaRef ds:uri="e9ee326f-114a-403d-8731-a941cab8dbfa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3E9AA6-AF92-48F1-85A3-2EC9FE1BF2E5}">
  <ds:schemaRefs>
    <ds:schemaRef ds:uri="e9ee326f-114a-403d-8731-a941cab8db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A8B2176-4CBB-410C-A12B-B74812CC65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602</Words>
  <Application>Microsoft Office PowerPoint</Application>
  <PresentationFormat>Widescreen</PresentationFormat>
  <Paragraphs>125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Bierstadt</vt:lpstr>
      <vt:lpstr>Cambria</vt:lpstr>
      <vt:lpstr>GestaltVTI</vt:lpstr>
      <vt:lpstr>Post-CAHOOTS Analysis</vt:lpstr>
      <vt:lpstr>Background </vt:lpstr>
      <vt:lpstr>PowerPoint Presentation</vt:lpstr>
      <vt:lpstr>Research Question</vt:lpstr>
      <vt:lpstr>Research Question</vt:lpstr>
      <vt:lpstr>PowerPoint Presentation</vt:lpstr>
      <vt:lpstr>Data</vt:lpstr>
      <vt:lpstr>Data</vt:lpstr>
      <vt:lpstr>Data</vt:lpstr>
      <vt:lpstr>PowerPoint Presentation</vt:lpstr>
      <vt:lpstr>Difference in Differences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Eugene volume of welfare check fell after CAHOOTS was defunded </vt:lpstr>
      <vt:lpstr>Arrests concluding welfare checks increased post-CAHOOTS in Eugene</vt:lpstr>
      <vt:lpstr>PowerPoint Presentation</vt:lpstr>
      <vt:lpstr>Discussion – Recommendations </vt:lpstr>
      <vt:lpstr>Discussion – Recommendations  </vt:lpstr>
      <vt:lpstr>PowerPoint Presentation</vt:lpstr>
      <vt:lpstr>Discussion – Limitations</vt:lpstr>
      <vt:lpstr>Discussion – Limitations</vt:lpstr>
      <vt:lpstr>PowerPoint Presentation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Less, Feed More</dc:title>
  <dc:creator>Kanaya Patel</dc:creator>
  <cp:lastModifiedBy>Kanaya Patel</cp:lastModifiedBy>
  <cp:revision>2</cp:revision>
  <cp:lastPrinted>2026-06-02T17:38:47Z</cp:lastPrinted>
  <dcterms:created xsi:type="dcterms:W3CDTF">2025-11-25T19:29:51Z</dcterms:created>
  <dcterms:modified xsi:type="dcterms:W3CDTF">2026-08-28T23:41:36Z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0x0101003DDE652893355046972750D4159CBDD8</vt:lpwstr>
  </property>
</Properties>
</file>